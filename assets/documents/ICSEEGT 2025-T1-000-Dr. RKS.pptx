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0" r:id="rId3"/>
    <p:sldId id="274" r:id="rId4"/>
    <p:sldId id="275" r:id="rId5"/>
    <p:sldId id="276" r:id="rId6"/>
    <p:sldId id="277" r:id="rId7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0kBUa6CNNh0Cm5CXWaOf/6TD1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00"/>
    <a:srgbClr val="002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EB0621-149F-43A9-B966-B2D88EBABEE5}">
  <a:tblStyle styleId="{DAEB0621-149F-43A9-B966-B2D88EBABE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68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9436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198D04A-C00C-41BB-B2F6-0661769CC88B}" type="datetime1">
              <a:rPr lang="en-US" smtClean="0"/>
              <a:t>11/19/2025</a:t>
            </a:fld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0C9FECF-C0CA-4E7B-960D-3CF04D3F92F9}" type="datetime1">
              <a:rPr lang="en-US" smtClean="0"/>
              <a:t>11/19/2025</a:t>
            </a:fld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1E6DD6-04F7-4317-A158-6674433E39E3}" type="datetime1">
              <a:rPr lang="en-US" smtClean="0"/>
              <a:t>11/19/2025</a:t>
            </a:fld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E888460-8589-4E33-83B6-5B14AB8EA436}" type="datetime1">
              <a:rPr lang="en-US" smtClean="0"/>
              <a:t>11/19/2025</a:t>
            </a:fld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549EA0B-7D1A-4B82-A3DB-4A34527FC0C7}" type="datetime1">
              <a:rPr lang="en-US" smtClean="0"/>
              <a:t>11/19/2025</a:t>
            </a:fld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06EF502-D78B-40A9-9AA4-5CB043D7F725}" type="datetime1">
              <a:rPr lang="en-US" smtClean="0"/>
              <a:t>11/19/2025</a:t>
            </a:fld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8478009-844F-437C-80CA-6021EDE0C775}" type="datetime1">
              <a:rPr lang="en-US" smtClean="0"/>
              <a:t>11/19/2025</a:t>
            </a:fld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EB70A8D-C7D1-4437-AFFA-34CF20CBDFCF}" type="datetime1">
              <a:rPr lang="en-US" smtClean="0"/>
              <a:t>11/19/2025</a:t>
            </a:fld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C58454F-A92B-4B3F-8589-29E10DF8B5A9}" type="datetime1">
              <a:rPr lang="en-US" smtClean="0"/>
              <a:t>11/19/2025</a:t>
            </a:fld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CA183E1-DF82-4CA7-B228-FFD9E87F93F8}" type="datetime1">
              <a:rPr lang="en-US" smtClean="0"/>
              <a:t>11/19/2025</a:t>
            </a:fld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E726E5A2-5A76-47AD-9D5C-DE973D812D4B}" type="datetime1">
              <a:rPr lang="en-US" smtClean="0"/>
              <a:t>11/19/2025</a:t>
            </a:fld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International Conference on Sustainable Energy, Environment and Green Technologies (ICSEEGT 2021)</a:t>
            </a:r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17" Type="http://schemas.openxmlformats.org/officeDocument/2006/relationships/image" Target="../media/image4.png"/><Relationship Id="rId2" Type="http://schemas.openxmlformats.org/officeDocument/2006/relationships/image" Target="../media/image2.png"/><Relationship Id="rId16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"/>
          <p:cNvGraphicFramePr/>
          <p:nvPr>
            <p:extLst>
              <p:ext uri="{D42A27DB-BD31-4B8C-83A1-F6EECF244321}">
                <p14:modId xmlns:p14="http://schemas.microsoft.com/office/powerpoint/2010/main" val="2935154545"/>
              </p:ext>
            </p:extLst>
          </p:nvPr>
        </p:nvGraphicFramePr>
        <p:xfrm>
          <a:off x="0" y="-51233"/>
          <a:ext cx="9114677" cy="2759427"/>
        </p:xfrm>
        <a:graphic>
          <a:graphicData uri="http://schemas.openxmlformats.org/drawingml/2006/table">
            <a:tbl>
              <a:tblPr>
                <a:noFill/>
                <a:tableStyleId>{DAEB0621-149F-43A9-B966-B2D88EBABEE5}</a:tableStyleId>
              </a:tblPr>
              <a:tblGrid>
                <a:gridCol w="3675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7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02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2060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Anusandhan National Research Foundation (ANRF)</a:t>
                      </a: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2060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Sponsored</a:t>
                      </a: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2060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Fifth International Conference on Sustainable Energy, Environment and Green Technologies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</a:t>
                      </a:r>
                      <a:r>
                        <a:rPr lang="en-US" sz="2000" b="1" u="none" strike="noStrike" cap="none" dirty="0">
                          <a:solidFill>
                            <a:srgbClr val="002060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(ICSEEGT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 </a:t>
                      </a:r>
                      <a:r>
                        <a:rPr lang="en-US" sz="2000" b="1" u="none" strike="noStrike" cap="none" dirty="0">
                          <a:solidFill>
                            <a:srgbClr val="002060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2025)</a:t>
                      </a:r>
                      <a:endParaRPr sz="2000" u="none" strike="noStrike" cap="none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7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C00000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(HYBRID MODE)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17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December 12-13, 2025, Poornima College of Engineering, Jaipur, India</a:t>
                      </a:r>
                      <a:endParaRPr sz="180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" name="Google Shape;92;p1"/>
          <p:cNvSpPr/>
          <p:nvPr/>
        </p:nvSpPr>
        <p:spPr>
          <a:xfrm>
            <a:off x="0" y="0"/>
            <a:ext cx="65" cy="40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2695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526680" y="2866191"/>
            <a:ext cx="2490518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r>
              <a:rPr lang="en-US" sz="2600" b="1" u="none" dirty="0">
                <a:solidFill>
                  <a:srgbClr val="7030A0"/>
                </a:solidFill>
                <a:latin typeface="Book Antiqua" panose="02040602050305030304" pitchFamily="18" charset="0"/>
                <a:ea typeface="Times New Roman"/>
                <a:cs typeface="Times New Roman"/>
                <a:sym typeface="Times New Roman"/>
              </a:rPr>
              <a:t>&lt;Paper Title&gt;</a:t>
            </a:r>
            <a:endParaRPr sz="2600" b="1" u="none" dirty="0">
              <a:solidFill>
                <a:srgbClr val="7030A0"/>
              </a:solidFill>
              <a:latin typeface="Book Antiqua" panose="020406020503050303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471140" y="3361350"/>
            <a:ext cx="47337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2000" b="1" u="none" dirty="0">
                <a:solidFill>
                  <a:srgbClr val="002060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&lt;</a:t>
            </a:r>
            <a:r>
              <a:rPr lang="en-US" sz="1800" b="1" u="none" dirty="0">
                <a:solidFill>
                  <a:srgbClr val="002060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All </a:t>
            </a:r>
            <a:r>
              <a:rPr lang="en-US" sz="1800" b="1" dirty="0">
                <a:solidFill>
                  <a:srgbClr val="002060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a</a:t>
            </a:r>
            <a:r>
              <a:rPr lang="en-US" sz="1800" b="1" u="none" dirty="0">
                <a:solidFill>
                  <a:srgbClr val="002060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uthors name in sequence </a:t>
            </a:r>
            <a:r>
              <a:rPr lang="en-US" sz="2000" b="1" u="none" dirty="0">
                <a:solidFill>
                  <a:srgbClr val="002060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&gt;</a:t>
            </a:r>
            <a:endParaRPr sz="2000" b="1" u="none" dirty="0">
              <a:solidFill>
                <a:srgbClr val="002060"/>
              </a:solidFill>
              <a:latin typeface="Book Antiqua" panose="0204060205030503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1" y="4880784"/>
            <a:ext cx="1144057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1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ID</a:t>
            </a:r>
            <a:r>
              <a:rPr lang="en-US" sz="1100" b="1" u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en-US" sz="1100" b="1" u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947043" y="4119301"/>
            <a:ext cx="5543731" cy="738623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400"/>
            </a:pPr>
            <a:r>
              <a:rPr lang="en-US" b="1" dirty="0">
                <a:solidFill>
                  <a:srgbClr val="C00000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Dr. M.V.S. S. SASTRI</a:t>
            </a:r>
            <a:endParaRPr lang="en-US" b="1" u="none" dirty="0">
              <a:solidFill>
                <a:srgbClr val="7030A0"/>
              </a:solidFill>
              <a:latin typeface="Book Antiqua" panose="0204060205030503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b="1" u="none" dirty="0">
                <a:solidFill>
                  <a:srgbClr val="7030A0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Associate Professor, Department of Civil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b="1" u="none" dirty="0">
                <a:solidFill>
                  <a:srgbClr val="002060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 Vasavi College of Engineering, Hyderabad, India</a:t>
            </a:r>
            <a:endParaRPr b="0" u="none" dirty="0">
              <a:solidFill>
                <a:srgbClr val="002060"/>
              </a:solidFill>
              <a:latin typeface="Book Antiqua" panose="0204060205030503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8D6568-C965-F4B4-03FC-0995C0F1C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942" y="3929211"/>
            <a:ext cx="1032177" cy="92871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2026CE-B7D7-C660-D347-89AA3B02B5A3}"/>
              </a:ext>
            </a:extLst>
          </p:cNvPr>
          <p:cNvSpPr txBox="1"/>
          <p:nvPr/>
        </p:nvSpPr>
        <p:spPr>
          <a:xfrm>
            <a:off x="3990549" y="3922551"/>
            <a:ext cx="16949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Noto Sans Symbols"/>
              <a:buNone/>
            </a:pPr>
            <a:r>
              <a:rPr lang="en-US" sz="1200" b="1" u="none" dirty="0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Times New Roman" panose="02020603050405020304" pitchFamily="18" charset="0"/>
                <a:sym typeface="Calibri"/>
              </a:rPr>
              <a:t>PRESENTED BY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D951E8-10D9-0CA0-6A46-12E09F57A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46" y="3889630"/>
            <a:ext cx="934928" cy="944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A257CA-CEBE-8268-3E0A-DB1BDD375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26" y="44471"/>
            <a:ext cx="1724363" cy="541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81D07E-8030-264B-DCC0-A3194BC70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451" y="39439"/>
            <a:ext cx="1108839" cy="5412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D69440-536F-4F18-1CBE-88624DB3944B}"/>
              </a:ext>
            </a:extLst>
          </p:cNvPr>
          <p:cNvSpPr txBox="1"/>
          <p:nvPr/>
        </p:nvSpPr>
        <p:spPr>
          <a:xfrm>
            <a:off x="3540749" y="4881890"/>
            <a:ext cx="24622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  <a:latin typeface="Book Antiqua"/>
                <a:sym typeface="Book Antiqua"/>
              </a:rPr>
              <a:t>SATURDAY, DECEMBER 15, 2025</a:t>
            </a:r>
            <a:endParaRPr lang="en-IN" sz="11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F1BCB1-A0D9-0900-BFA3-2A7D3EA2F9B7}"/>
              </a:ext>
            </a:extLst>
          </p:cNvPr>
          <p:cNvSpPr/>
          <p:nvPr/>
        </p:nvSpPr>
        <p:spPr>
          <a:xfrm flipV="1">
            <a:off x="2203556" y="3883492"/>
            <a:ext cx="5024626" cy="4571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1C2885-12AE-E148-E3DD-B6E30775CEC1}"/>
              </a:ext>
            </a:extLst>
          </p:cNvPr>
          <p:cNvSpPr txBox="1"/>
          <p:nvPr/>
        </p:nvSpPr>
        <p:spPr>
          <a:xfrm>
            <a:off x="6661053" y="4911071"/>
            <a:ext cx="24829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rgbClr val="7030A0"/>
                </a:solidFill>
                <a:latin typeface="Book Antiqua"/>
                <a:sym typeface="Book Antiqua"/>
              </a:rPr>
              <a:t>TECHNICAL SESSION CODE: TS-I</a:t>
            </a:r>
            <a:endParaRPr lang="en-IN" sz="1050" dirty="0">
              <a:solidFill>
                <a:srgbClr val="703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68667D-8993-9C74-3B0F-B80156640306}"/>
              </a:ext>
            </a:extLst>
          </p:cNvPr>
          <p:cNvSpPr txBox="1"/>
          <p:nvPr/>
        </p:nvSpPr>
        <p:spPr>
          <a:xfrm>
            <a:off x="7581150" y="84278"/>
            <a:ext cx="1562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AFFILIATING INSTITUTE LOGO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F3A3DF-CD20-4C8E-637C-CF271E6F0C04}"/>
              </a:ext>
            </a:extLst>
          </p:cNvPr>
          <p:cNvSpPr/>
          <p:nvPr/>
        </p:nvSpPr>
        <p:spPr>
          <a:xfrm flipV="1">
            <a:off x="107026" y="4857923"/>
            <a:ext cx="8925093" cy="4682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4;p2">
            <a:extLst>
              <a:ext uri="{FF2B5EF4-FFF2-40B4-BE49-F238E27FC236}">
                <a16:creationId xmlns:a16="http://schemas.microsoft.com/office/drawing/2014/main" id="{AA0F55D3-A7F7-457A-A607-55687A473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4471"/>
            <a:ext cx="6049108" cy="51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3200"/>
              <a:buFont typeface="Calibri"/>
              <a:buNone/>
            </a:pPr>
            <a:r>
              <a:rPr lang="en-US" sz="2600" b="1" dirty="0">
                <a:solidFill>
                  <a:srgbClr val="7030A0"/>
                </a:solidFill>
                <a:latin typeface="Book Antiqua" panose="02040602050305030304" pitchFamily="18" charset="0"/>
                <a:cs typeface="Times New Roman" pitchFamily="18" charset="0"/>
              </a:rPr>
              <a:t>CONTENT (ONLY FOR REFERENCE) </a:t>
            </a:r>
          </a:p>
        </p:txBody>
      </p:sp>
      <p:sp>
        <p:nvSpPr>
          <p:cNvPr id="9" name="Google Shape;105;p2">
            <a:extLst>
              <a:ext uri="{FF2B5EF4-FFF2-40B4-BE49-F238E27FC236}">
                <a16:creationId xmlns:a16="http://schemas.microsoft.com/office/drawing/2014/main" id="{7FBDA4A6-8FDD-FDEB-446E-D4680513219B}"/>
              </a:ext>
            </a:extLst>
          </p:cNvPr>
          <p:cNvSpPr txBox="1">
            <a:spLocks/>
          </p:cNvSpPr>
          <p:nvPr/>
        </p:nvSpPr>
        <p:spPr>
          <a:xfrm>
            <a:off x="291147" y="715986"/>
            <a:ext cx="4695850" cy="371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r>
              <a:rPr lang="en-IN" sz="1800" b="1" dirty="0">
                <a:solidFill>
                  <a:srgbClr val="262626"/>
                </a:solidFill>
                <a:latin typeface="Book Antiqua" panose="02040602050305030304" pitchFamily="18" charset="0"/>
                <a:cs typeface="Times New Roman" pitchFamily="18" charset="0"/>
              </a:rPr>
              <a:t>Introduction</a:t>
            </a: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endParaRPr lang="en-IN" sz="1800" b="1" dirty="0">
              <a:solidFill>
                <a:srgbClr val="262626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r>
              <a:rPr lang="en-IN" sz="1800" b="1" dirty="0">
                <a:solidFill>
                  <a:srgbClr val="262626"/>
                </a:solidFill>
                <a:latin typeface="Book Antiqua" panose="02040602050305030304" pitchFamily="18" charset="0"/>
                <a:cs typeface="Times New Roman" pitchFamily="18" charset="0"/>
              </a:rPr>
              <a:t>Literature Review</a:t>
            </a: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endParaRPr lang="en-IN" sz="1800" b="1" dirty="0">
              <a:solidFill>
                <a:srgbClr val="262626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r>
              <a:rPr lang="en-IN" sz="1800" b="1" dirty="0">
                <a:solidFill>
                  <a:srgbClr val="262626"/>
                </a:solidFill>
                <a:latin typeface="Book Antiqua" panose="02040602050305030304" pitchFamily="18" charset="0"/>
                <a:cs typeface="Times New Roman" pitchFamily="18" charset="0"/>
              </a:rPr>
              <a:t>Problem Formulation (Research Gap)</a:t>
            </a: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endParaRPr lang="en-IN" sz="1800" b="1" dirty="0">
              <a:solidFill>
                <a:srgbClr val="262626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r>
              <a:rPr lang="en-IN" sz="1800" b="1" dirty="0">
                <a:solidFill>
                  <a:srgbClr val="262626"/>
                </a:solidFill>
                <a:latin typeface="Book Antiqua" panose="02040602050305030304" pitchFamily="18" charset="0"/>
                <a:cs typeface="Times New Roman" pitchFamily="18" charset="0"/>
              </a:rPr>
              <a:t>Methodology</a:t>
            </a: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endParaRPr lang="en-IN" sz="1800" b="1" dirty="0">
              <a:solidFill>
                <a:srgbClr val="262626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r>
              <a:rPr lang="en-IN" sz="1800" b="1" dirty="0">
                <a:solidFill>
                  <a:srgbClr val="262626"/>
                </a:solidFill>
                <a:latin typeface="Book Antiqua" panose="02040602050305030304" pitchFamily="18" charset="0"/>
                <a:cs typeface="Times New Roman" pitchFamily="18" charset="0"/>
              </a:rPr>
              <a:t>Results and Discussion</a:t>
            </a: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endParaRPr lang="en-IN" sz="1800" b="1" dirty="0">
              <a:solidFill>
                <a:srgbClr val="262626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r>
              <a:rPr lang="en-IN" sz="1800" b="1" dirty="0">
                <a:solidFill>
                  <a:srgbClr val="262626"/>
                </a:solidFill>
                <a:latin typeface="Book Antiqua" panose="02040602050305030304" pitchFamily="18" charset="0"/>
                <a:cs typeface="Times New Roman" pitchFamily="18" charset="0"/>
              </a:rPr>
              <a:t>Conclusion</a:t>
            </a: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endParaRPr lang="en-IN" sz="1800" b="1" dirty="0">
              <a:solidFill>
                <a:srgbClr val="262626"/>
              </a:solidFill>
              <a:latin typeface="Book Antiqua" panose="02040602050305030304" pitchFamily="18" charset="0"/>
              <a:cs typeface="Times New Roman" pitchFamily="18" charset="0"/>
            </a:endParaRPr>
          </a:p>
          <a:p>
            <a:pPr marL="230188" indent="-230188">
              <a:spcBef>
                <a:spcPts val="0"/>
              </a:spcBef>
              <a:buClr>
                <a:srgbClr val="262626"/>
              </a:buClr>
              <a:buSzPts val="1600"/>
            </a:pPr>
            <a:r>
              <a:rPr lang="en-IN" sz="1800" b="1" dirty="0">
                <a:solidFill>
                  <a:srgbClr val="262626"/>
                </a:solidFill>
                <a:latin typeface="Book Antiqua" panose="02040602050305030304" pitchFamily="18" charset="0"/>
                <a:cs typeface="Times New Roman" pitchFamily="18" charset="0"/>
              </a:rPr>
              <a:t>References</a:t>
            </a:r>
            <a:endParaRPr lang="en-IN" sz="1800" b="1" dirty="0">
              <a:latin typeface="Book Antiqua" panose="02040602050305030304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E989D-A3D4-22EA-664C-8334AD05F6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876714" y="4869656"/>
            <a:ext cx="267286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smtClean="0">
                <a:solidFill>
                  <a:schemeClr val="tx1"/>
                </a:solidFill>
                <a:latin typeface="Book Antiqua" panose="02040602050305030304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sz="10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2448A-E64A-BFD9-4E5A-9C02F9E3F44D}"/>
              </a:ext>
            </a:extLst>
          </p:cNvPr>
          <p:cNvSpPr txBox="1"/>
          <p:nvPr/>
        </p:nvSpPr>
        <p:spPr>
          <a:xfrm>
            <a:off x="7681951" y="140559"/>
            <a:ext cx="1562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AFFILIATING INSTITUTE LOGO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E5BC6-3672-FB42-468F-289EE727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420" y="44471"/>
            <a:ext cx="647331" cy="6538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FA3387-B69E-5244-EBE6-8A623F60A8FF}"/>
              </a:ext>
            </a:extLst>
          </p:cNvPr>
          <p:cNvSpPr/>
          <p:nvPr/>
        </p:nvSpPr>
        <p:spPr>
          <a:xfrm flipV="1">
            <a:off x="107026" y="4857923"/>
            <a:ext cx="8925093" cy="4682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E806F1-140B-FB57-2139-27090CD78544}"/>
              </a:ext>
            </a:extLst>
          </p:cNvPr>
          <p:cNvSpPr txBox="1"/>
          <p:nvPr/>
        </p:nvSpPr>
        <p:spPr>
          <a:xfrm>
            <a:off x="788809" y="4881333"/>
            <a:ext cx="7561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1" dirty="0">
                <a:solidFill>
                  <a:srgbClr val="002060"/>
                </a:solidFill>
                <a:latin typeface="Book Antiqua" panose="02040602050305030304" pitchFamily="18" charset="0"/>
              </a:rPr>
              <a:t>Fifth International Conference on Sustainable Energy, Environment and Green Technologies (ICSEEGT 2025)</a:t>
            </a:r>
          </a:p>
        </p:txBody>
      </p:sp>
    </p:spTree>
    <p:extLst>
      <p:ext uri="{BB962C8B-B14F-4D97-AF65-F5344CB8AC3E}">
        <p14:creationId xmlns:p14="http://schemas.microsoft.com/office/powerpoint/2010/main" val="86141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77BB-2EC4-3AA4-0F91-77F3CFEF0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ECEC2E8-FC95-E4D2-4D5D-DB2E2DF9BF51}"/>
              </a:ext>
            </a:extLst>
          </p:cNvPr>
          <p:cNvSpPr txBox="1"/>
          <p:nvPr/>
        </p:nvSpPr>
        <p:spPr>
          <a:xfrm>
            <a:off x="7681951" y="44471"/>
            <a:ext cx="1562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AFFILIATING INSTITUTE LOGO</a:t>
            </a:r>
          </a:p>
        </p:txBody>
      </p:sp>
      <p:sp>
        <p:nvSpPr>
          <p:cNvPr id="13" name="Google Shape;104;p2">
            <a:extLst>
              <a:ext uri="{FF2B5EF4-FFF2-40B4-BE49-F238E27FC236}">
                <a16:creationId xmlns:a16="http://schemas.microsoft.com/office/drawing/2014/main" id="{51E105D6-D17C-18C6-DFDC-0F1D42E9ED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4471"/>
            <a:ext cx="2996418" cy="51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3200"/>
              <a:buFont typeface="Calibri"/>
              <a:buNone/>
            </a:pPr>
            <a:r>
              <a:rPr lang="en-US" sz="2600" b="1" dirty="0">
                <a:solidFill>
                  <a:srgbClr val="7030A0"/>
                </a:solidFill>
                <a:latin typeface="Book Antiqua" panose="02040602050305030304" pitchFamily="18" charset="0"/>
                <a:cs typeface="Times New Roman" pitchFamily="18" charset="0"/>
              </a:rPr>
              <a:t>MAIN HEADING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8760C-93BE-654A-AEB8-8ACFC445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420" y="44471"/>
            <a:ext cx="647331" cy="6538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44B88-C057-A566-0CAA-1116C53A8D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876714" y="4869656"/>
            <a:ext cx="267286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smtClean="0">
                <a:solidFill>
                  <a:schemeClr val="tx1"/>
                </a:solidFill>
                <a:latin typeface="Book Antiqua" panose="02040602050305030304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sz="10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3BF4F5-346C-EE73-797E-7E31C9590371}"/>
              </a:ext>
            </a:extLst>
          </p:cNvPr>
          <p:cNvSpPr/>
          <p:nvPr/>
        </p:nvSpPr>
        <p:spPr>
          <a:xfrm flipV="1">
            <a:off x="107026" y="4857923"/>
            <a:ext cx="8925093" cy="4682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F9032-B406-CFE1-1DF8-E0BFBD3A2A25}"/>
              </a:ext>
            </a:extLst>
          </p:cNvPr>
          <p:cNvSpPr txBox="1"/>
          <p:nvPr/>
        </p:nvSpPr>
        <p:spPr>
          <a:xfrm>
            <a:off x="788809" y="4881333"/>
            <a:ext cx="7561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1" dirty="0">
                <a:solidFill>
                  <a:srgbClr val="002060"/>
                </a:solidFill>
                <a:latin typeface="Book Antiqua" panose="02040602050305030304" pitchFamily="18" charset="0"/>
              </a:rPr>
              <a:t>Fifth International Conference on Sustainable Energy, Environment and Green Technologies (ICSEEGT 2025)</a:t>
            </a:r>
          </a:p>
        </p:txBody>
      </p:sp>
    </p:spTree>
    <p:extLst>
      <p:ext uri="{BB962C8B-B14F-4D97-AF65-F5344CB8AC3E}">
        <p14:creationId xmlns:p14="http://schemas.microsoft.com/office/powerpoint/2010/main" val="65367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6A2C-1191-5982-C74C-334B6370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B51AF6C-4802-2079-AE30-23BB874435F0}"/>
              </a:ext>
            </a:extLst>
          </p:cNvPr>
          <p:cNvSpPr txBox="1"/>
          <p:nvPr/>
        </p:nvSpPr>
        <p:spPr>
          <a:xfrm>
            <a:off x="7681951" y="44471"/>
            <a:ext cx="1562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AFFILIATING INSTITUTE LOGO</a:t>
            </a:r>
          </a:p>
        </p:txBody>
      </p:sp>
      <p:sp>
        <p:nvSpPr>
          <p:cNvPr id="13" name="Google Shape;104;p2">
            <a:extLst>
              <a:ext uri="{FF2B5EF4-FFF2-40B4-BE49-F238E27FC236}">
                <a16:creationId xmlns:a16="http://schemas.microsoft.com/office/drawing/2014/main" id="{07B57DBC-8B19-0ACA-1F57-BDC97221BD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4471"/>
            <a:ext cx="2996418" cy="51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3200"/>
              <a:buFont typeface="Calibri"/>
              <a:buNone/>
            </a:pPr>
            <a:r>
              <a:rPr lang="en-US" sz="2600" b="1" dirty="0">
                <a:solidFill>
                  <a:srgbClr val="7030A0"/>
                </a:solidFill>
                <a:latin typeface="Book Antiqua" panose="02040602050305030304" pitchFamily="18" charset="0"/>
                <a:cs typeface="Times New Roman" pitchFamily="18" charset="0"/>
              </a:rPr>
              <a:t>MAIN HEADING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44620-E0E3-C265-35AE-C8A9F657C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420" y="44471"/>
            <a:ext cx="647331" cy="6538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055C6-FC67-1CC7-4D47-01B238160B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876714" y="4869656"/>
            <a:ext cx="267286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smtClean="0">
                <a:solidFill>
                  <a:schemeClr val="tx1"/>
                </a:solidFill>
                <a:latin typeface="Book Antiqua" panose="02040602050305030304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sz="10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EA2E90-58C0-0B9A-B1DA-D7787F68A03E}"/>
              </a:ext>
            </a:extLst>
          </p:cNvPr>
          <p:cNvSpPr/>
          <p:nvPr/>
        </p:nvSpPr>
        <p:spPr>
          <a:xfrm flipV="1">
            <a:off x="107026" y="4857923"/>
            <a:ext cx="8925093" cy="4682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E3F7E6-4373-AD98-CC45-7CD64BF04B86}"/>
              </a:ext>
            </a:extLst>
          </p:cNvPr>
          <p:cNvSpPr txBox="1"/>
          <p:nvPr/>
        </p:nvSpPr>
        <p:spPr>
          <a:xfrm>
            <a:off x="788809" y="4881333"/>
            <a:ext cx="7561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1" dirty="0">
                <a:solidFill>
                  <a:srgbClr val="002060"/>
                </a:solidFill>
                <a:latin typeface="Book Antiqua" panose="02040602050305030304" pitchFamily="18" charset="0"/>
              </a:rPr>
              <a:t>Fifth International Conference on Sustainable Energy, Environment and Green Technologies (ICSEEGT 2025)</a:t>
            </a:r>
          </a:p>
        </p:txBody>
      </p:sp>
    </p:spTree>
    <p:extLst>
      <p:ext uri="{BB962C8B-B14F-4D97-AF65-F5344CB8AC3E}">
        <p14:creationId xmlns:p14="http://schemas.microsoft.com/office/powerpoint/2010/main" val="156075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C912E-FAD9-3113-7E2B-65C92F97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731BF17-1900-CEF5-B813-24D87DD5BE6A}"/>
              </a:ext>
            </a:extLst>
          </p:cNvPr>
          <p:cNvSpPr txBox="1"/>
          <p:nvPr/>
        </p:nvSpPr>
        <p:spPr>
          <a:xfrm>
            <a:off x="7681951" y="44471"/>
            <a:ext cx="1562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AFFILIATING INSTITUTE LOGO</a:t>
            </a:r>
          </a:p>
        </p:txBody>
      </p:sp>
      <p:sp>
        <p:nvSpPr>
          <p:cNvPr id="13" name="Google Shape;104;p2">
            <a:extLst>
              <a:ext uri="{FF2B5EF4-FFF2-40B4-BE49-F238E27FC236}">
                <a16:creationId xmlns:a16="http://schemas.microsoft.com/office/drawing/2014/main" id="{391E8C37-A463-F552-9E5F-E2F571BBE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4471"/>
            <a:ext cx="2996418" cy="51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3200"/>
              <a:buFont typeface="Calibri"/>
              <a:buNone/>
            </a:pPr>
            <a:r>
              <a:rPr lang="en-US" sz="2600" b="1" dirty="0">
                <a:solidFill>
                  <a:srgbClr val="7030A0"/>
                </a:solidFill>
                <a:latin typeface="Book Antiqua" panose="02040602050305030304" pitchFamily="18" charset="0"/>
                <a:cs typeface="Times New Roman" pitchFamily="18" charset="0"/>
              </a:rPr>
              <a:t>MAIN HEADING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C93B1-A694-2A71-FF39-97808D44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420" y="44471"/>
            <a:ext cx="647331" cy="6538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80867-045A-2FCB-98C9-83C2B5CB45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876714" y="4869656"/>
            <a:ext cx="267286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smtClean="0">
                <a:solidFill>
                  <a:schemeClr val="tx1"/>
                </a:solidFill>
                <a:latin typeface="Book Antiqua" panose="02040602050305030304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sz="10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AB41DD-5ED2-50B6-5B41-010D5DA5C987}"/>
              </a:ext>
            </a:extLst>
          </p:cNvPr>
          <p:cNvSpPr/>
          <p:nvPr/>
        </p:nvSpPr>
        <p:spPr>
          <a:xfrm flipV="1">
            <a:off x="107026" y="4857923"/>
            <a:ext cx="8925093" cy="4682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E90A0-A2E3-60C8-7D3B-7B846E62BFAD}"/>
              </a:ext>
            </a:extLst>
          </p:cNvPr>
          <p:cNvSpPr txBox="1"/>
          <p:nvPr/>
        </p:nvSpPr>
        <p:spPr>
          <a:xfrm>
            <a:off x="788809" y="4881333"/>
            <a:ext cx="7561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1" dirty="0">
                <a:solidFill>
                  <a:srgbClr val="002060"/>
                </a:solidFill>
                <a:latin typeface="Book Antiqua" panose="02040602050305030304" pitchFamily="18" charset="0"/>
              </a:rPr>
              <a:t>Fifth International Conference on Sustainable Energy, Environment and Green Technologies (ICSEEGT 2025)</a:t>
            </a:r>
          </a:p>
        </p:txBody>
      </p:sp>
    </p:spTree>
    <p:extLst>
      <p:ext uri="{BB962C8B-B14F-4D97-AF65-F5344CB8AC3E}">
        <p14:creationId xmlns:p14="http://schemas.microsoft.com/office/powerpoint/2010/main" val="94379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E9276-C411-DF55-64EF-EFC122596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7632093-2C5D-B1D3-575A-BC57C9A3833E}"/>
              </a:ext>
            </a:extLst>
          </p:cNvPr>
          <p:cNvSpPr txBox="1"/>
          <p:nvPr/>
        </p:nvSpPr>
        <p:spPr>
          <a:xfrm>
            <a:off x="7681951" y="44471"/>
            <a:ext cx="1562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AFFILIATING INSTITUTE LOGO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112BD8-4F0F-FFDD-6081-224C1F35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420" y="44471"/>
            <a:ext cx="647331" cy="6538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E93C8-7C7A-B03C-2637-C2D821C7A52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876714" y="4869656"/>
            <a:ext cx="267286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smtClean="0">
                <a:solidFill>
                  <a:schemeClr val="tx1"/>
                </a:solidFill>
                <a:latin typeface="Book Antiqua" panose="02040602050305030304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sz="10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705B8-31D1-A996-2117-CB840707BFFF}"/>
              </a:ext>
            </a:extLst>
          </p:cNvPr>
          <p:cNvSpPr txBox="1"/>
          <p:nvPr/>
        </p:nvSpPr>
        <p:spPr>
          <a:xfrm>
            <a:off x="1831389" y="1106648"/>
            <a:ext cx="5997701" cy="1002017"/>
          </a:xfrm>
          <a:prstGeom prst="rect">
            <a:avLst/>
          </a:prstGeom>
          <a:noFill/>
        </p:spPr>
        <p:txBody>
          <a:bodyPr wrap="square" lIns="77925" tIns="38963" rIns="77925" bIns="38963">
            <a:spAutoFit/>
          </a:bodyPr>
          <a:lstStyle/>
          <a:p>
            <a:pPr algn="ctr"/>
            <a:r>
              <a:rPr lang="en-US" altLang="en-US" sz="6000" b="1" dirty="0">
                <a:latin typeface="Book Antiqua" panose="02040602050305030304" pitchFamily="18" charset="0"/>
              </a:rPr>
              <a:t>THANK YOU…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C0BD1E-D7E9-85D5-19C6-9EED88968A3E}"/>
              </a:ext>
            </a:extLst>
          </p:cNvPr>
          <p:cNvSpPr txBox="1"/>
          <p:nvPr/>
        </p:nvSpPr>
        <p:spPr>
          <a:xfrm>
            <a:off x="2040538" y="2057764"/>
            <a:ext cx="5198011" cy="324908"/>
          </a:xfrm>
          <a:prstGeom prst="rect">
            <a:avLst/>
          </a:prstGeom>
          <a:noFill/>
        </p:spPr>
        <p:txBody>
          <a:bodyPr wrap="square" lIns="77925" tIns="38963" rIns="77925" bIns="38963">
            <a:spAutoFit/>
          </a:bodyPr>
          <a:lstStyle/>
          <a:p>
            <a:pPr algn="ctr"/>
            <a:r>
              <a:rPr lang="en-US" altLang="en-US" sz="1600" spc="-43" dirty="0">
                <a:solidFill>
                  <a:srgbClr val="C00000"/>
                </a:solidFill>
                <a:latin typeface="Book Antiqua" panose="02040602050305030304" pitchFamily="18" charset="0"/>
                <a:ea typeface="+mj-ea"/>
                <a:cs typeface="Times New Roman" panose="02020603050405020304" pitchFamily="18" charset="0"/>
              </a:rPr>
              <a:t>Contact Details of Presenter : E-mail, Phone Number etc..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D61179-9899-8E15-003A-D82AE6B64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6" y="44471"/>
            <a:ext cx="1724363" cy="54128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301C9F6-0D5D-9CA9-3B27-3F9FEAB708A8}"/>
              </a:ext>
            </a:extLst>
          </p:cNvPr>
          <p:cNvGrpSpPr/>
          <p:nvPr/>
        </p:nvGrpSpPr>
        <p:grpSpPr>
          <a:xfrm>
            <a:off x="69056" y="3331607"/>
            <a:ext cx="9017644" cy="1713114"/>
            <a:chOff x="69056" y="3331607"/>
            <a:chExt cx="9017644" cy="171311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9A4E6C-1D03-7D38-C70A-1C8A0E1E3EFA}"/>
                </a:ext>
              </a:extLst>
            </p:cNvPr>
            <p:cNvSpPr/>
            <p:nvPr/>
          </p:nvSpPr>
          <p:spPr>
            <a:xfrm>
              <a:off x="107026" y="3331607"/>
              <a:ext cx="8847154" cy="62418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CC9DFA7-F90F-CB97-798F-F615895D8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6647" y="3459810"/>
              <a:ext cx="1754704" cy="57905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0458F2D-2F4D-161E-BA57-03B1C4F76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74187" y="3467370"/>
              <a:ext cx="825620" cy="61836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37DD602-38B6-F491-D25A-9B694FDF4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69131" y="3364294"/>
              <a:ext cx="995015" cy="81148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EF25ACD-221F-8F8D-939D-E6157A06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09506" y="3445111"/>
              <a:ext cx="1644674" cy="39620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27B50A8-90C5-364C-7C88-AF212A951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23163" y="4283225"/>
              <a:ext cx="1828608" cy="55530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00B4DC-A778-D8C6-FBBF-BD584325C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00364" y="4170719"/>
              <a:ext cx="1281258" cy="70869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61CCABB-8EEC-0230-E8AD-49359E7AB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56800" y="4348376"/>
              <a:ext cx="1476312" cy="48034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724D8E8-7F3E-A68C-F225-A495F3F4E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31515" y="3901533"/>
              <a:ext cx="1800657" cy="52606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EBE1AEB-C490-BF94-74DE-F17779F27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76989" y="4473010"/>
              <a:ext cx="1909711" cy="41700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2A0960A-C512-5806-5E16-FBAB9DB7D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97063" y="3463430"/>
              <a:ext cx="909755" cy="54128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32A5077-2998-EB48-D058-09B31A230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12966" t="19502" r="12598" b="16972"/>
            <a:stretch>
              <a:fillRect/>
            </a:stretch>
          </p:blipFill>
          <p:spPr>
            <a:xfrm>
              <a:off x="6121351" y="4278668"/>
              <a:ext cx="970671" cy="58570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6B060DB-F184-FACF-C9BB-9C5B7EA4B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2290" y="3452040"/>
              <a:ext cx="2057404" cy="548641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A699513-BA79-AA66-6711-FF3B21469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t="27700" b="27522"/>
            <a:stretch>
              <a:fillRect/>
            </a:stretch>
          </p:blipFill>
          <p:spPr>
            <a:xfrm>
              <a:off x="69056" y="4286558"/>
              <a:ext cx="980121" cy="548640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8BC52E-CB14-A53C-26C3-58C1BF394776}"/>
                </a:ext>
              </a:extLst>
            </p:cNvPr>
            <p:cNvSpPr/>
            <p:nvPr/>
          </p:nvSpPr>
          <p:spPr>
            <a:xfrm>
              <a:off x="128194" y="4982303"/>
              <a:ext cx="8847154" cy="62418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B8C4AF51-CAAB-93F7-9587-B450DDEFA30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17451" y="39439"/>
            <a:ext cx="1108839" cy="54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4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219</Words>
  <Application>Microsoft Office PowerPoint</Application>
  <PresentationFormat>On-screen Show (16:9)</PresentationFormat>
  <Paragraphs>49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Noto Sans Symbols</vt:lpstr>
      <vt:lpstr>Times New Roman</vt:lpstr>
      <vt:lpstr>Calibri</vt:lpstr>
      <vt:lpstr>Arial</vt:lpstr>
      <vt:lpstr>Book Antiqua</vt:lpstr>
      <vt:lpstr>Office Theme</vt:lpstr>
      <vt:lpstr>PowerPoint Presentation</vt:lpstr>
      <vt:lpstr>CONTENT (ONLY FOR REFERENCE) </vt:lpstr>
      <vt:lpstr>MAIN HEADING </vt:lpstr>
      <vt:lpstr>MAIN HEADING </vt:lpstr>
      <vt:lpstr>MAIN HEADING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53</cp:revision>
  <cp:lastPrinted>2022-06-08T05:04:58Z</cp:lastPrinted>
  <dcterms:created xsi:type="dcterms:W3CDTF">2006-08-16T00:00:00Z</dcterms:created>
  <dcterms:modified xsi:type="dcterms:W3CDTF">2025-11-19T16:57:08Z</dcterms:modified>
</cp:coreProperties>
</file>